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2.svg" ContentType="image/svg+xml"/>
  <Override PartName="/ppt/media/image2.svg" ContentType="image/svg+xml"/>
  <Override PartName="/ppt/media/image4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Times New Roman MT Bold" panose="02030802070405020303"/>
      <p:bold r:id="rId19"/>
    </p:embeddedFont>
    <p:embeddedFont>
      <p:font typeface="Futura Bold" panose="020B0702020204020203"/>
      <p:bold r:id="rId20"/>
    </p:embeddedFont>
    <p:embeddedFont>
      <p:font typeface="Times New Roman MT" panose="02030502070405020303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2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svg"/><Relationship Id="rId7" Type="http://schemas.openxmlformats.org/officeDocument/2006/relationships/image" Target="../media/image14.png"/><Relationship Id="rId6" Type="http://schemas.openxmlformats.org/officeDocument/2006/relationships/image" Target="../media/image4.svg"/><Relationship Id="rId5" Type="http://schemas.openxmlformats.org/officeDocument/2006/relationships/image" Target="../media/image10.png"/><Relationship Id="rId4" Type="http://schemas.openxmlformats.org/officeDocument/2006/relationships/image" Target="../media/image2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 flipV="1">
            <a:off x="15235949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0" y="0"/>
                </a:lnTo>
                <a:lnTo>
                  <a:pt x="281320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16970200" y="282868"/>
            <a:ext cx="2243864" cy="2798470"/>
          </a:xfrm>
          <a:custGeom>
            <a:avLst/>
            <a:gdLst/>
            <a:ahLst/>
            <a:cxnLst/>
            <a:rect l="l" t="t" r="r" b="b"/>
            <a:pathLst>
              <a:path w="2243864" h="2798470">
                <a:moveTo>
                  <a:pt x="0" y="2798469"/>
                </a:moveTo>
                <a:lnTo>
                  <a:pt x="2243864" y="2798469"/>
                </a:lnTo>
                <a:lnTo>
                  <a:pt x="2243864" y="0"/>
                </a:lnTo>
                <a:lnTo>
                  <a:pt x="0" y="0"/>
                </a:lnTo>
                <a:lnTo>
                  <a:pt x="0" y="279846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0"/>
            <a:ext cx="2927769" cy="2232851"/>
          </a:xfrm>
          <a:custGeom>
            <a:avLst/>
            <a:gdLst/>
            <a:ahLst/>
            <a:cxnLst/>
            <a:rect l="l" t="t" r="r" b="b"/>
            <a:pathLst>
              <a:path w="2927769" h="2232851">
                <a:moveTo>
                  <a:pt x="0" y="0"/>
                </a:moveTo>
                <a:lnTo>
                  <a:pt x="2927769" y="0"/>
                </a:lnTo>
                <a:lnTo>
                  <a:pt x="2927769" y="2232851"/>
                </a:lnTo>
                <a:lnTo>
                  <a:pt x="0" y="2232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055263" y="5486400"/>
            <a:ext cx="3527637" cy="2645728"/>
          </a:xfrm>
          <a:custGeom>
            <a:avLst/>
            <a:gdLst/>
            <a:ahLst/>
            <a:cxnLst/>
            <a:rect l="l" t="t" r="r" b="b"/>
            <a:pathLst>
              <a:path w="3527637" h="2645728">
                <a:moveTo>
                  <a:pt x="0" y="0"/>
                </a:moveTo>
                <a:lnTo>
                  <a:pt x="3527637" y="0"/>
                </a:lnTo>
                <a:lnTo>
                  <a:pt x="3527637" y="2645728"/>
                </a:lnTo>
                <a:lnTo>
                  <a:pt x="0" y="26457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895779" y="2350057"/>
            <a:ext cx="14855555" cy="2637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5"/>
              </a:lnSpc>
            </a:pPr>
            <a:r>
              <a:rPr lang="en-US" sz="579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ADVANCED RESNET50 - AUTOENCODER FRAMEWORK FOR MULTI - CLASS EYE DISEASE CLASSIFICATION</a:t>
            </a:r>
            <a:endParaRPr lang="en-US" sz="579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97969" y="2682"/>
            <a:ext cx="11916110" cy="2548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0"/>
              </a:lnSpc>
              <a:spcBef>
                <a:spcPct val="0"/>
              </a:spcBef>
            </a:pPr>
            <a:r>
              <a:rPr lang="en-US" sz="4670" b="1">
                <a:solidFill>
                  <a:srgbClr val="FF6D4D"/>
                </a:solidFill>
                <a:latin typeface="Futura Bold" panose="020B0702020204020203"/>
                <a:ea typeface="Futura Bold" panose="020B0702020204020203"/>
                <a:cs typeface="Futura Bold" panose="020B0702020204020203"/>
                <a:sym typeface="Futura Bold" panose="020B0702020204020203"/>
              </a:rPr>
              <a:t>PRASAD V. P</a:t>
            </a:r>
            <a:r>
              <a:rPr lang="en-US" sz="4670" b="1">
                <a:solidFill>
                  <a:srgbClr val="FF6D4D"/>
                </a:solidFill>
                <a:latin typeface="Futura Bold" panose="020B0702020204020203"/>
                <a:ea typeface="Futura Bold" panose="020B0702020204020203"/>
                <a:cs typeface="Futura Bold" panose="020B0702020204020203"/>
                <a:sym typeface="Futura Bold" panose="020B0702020204020203"/>
              </a:rPr>
              <a:t>OTLURI SIDDHARTHA INSTITUTE OF TECHNOLOGY</a:t>
            </a:r>
            <a:endParaRPr lang="en-US" sz="4670" b="1">
              <a:solidFill>
                <a:srgbClr val="FF6D4D"/>
              </a:solidFill>
              <a:latin typeface="Futura Bold" panose="020B0702020204020203"/>
              <a:ea typeface="Futura Bold" panose="020B0702020204020203"/>
              <a:cs typeface="Futura Bold" panose="020B0702020204020203"/>
              <a:sym typeface="Futura Bold" panose="020B0702020204020203"/>
            </a:endParaRPr>
          </a:p>
          <a:p>
            <a:pPr algn="ctr">
              <a:lnSpc>
                <a:spcPts val="6540"/>
              </a:lnSpc>
              <a:spcBef>
                <a:spcPct val="0"/>
              </a:spcBef>
            </a:pPr>
          </a:p>
        </p:txBody>
      </p:sp>
      <p:sp>
        <p:nvSpPr>
          <p:cNvPr id="10" name="TextBox 10"/>
          <p:cNvSpPr txBox="1"/>
          <p:nvPr/>
        </p:nvSpPr>
        <p:spPr>
          <a:xfrm>
            <a:off x="1634847" y="5410200"/>
            <a:ext cx="7069832" cy="312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5"/>
              </a:lnSpc>
              <a:spcBef>
                <a:spcPct val="0"/>
              </a:spcBef>
            </a:pPr>
            <a:r>
              <a:rPr lang="en-US" sz="2920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TEAM MEMBE</a:t>
            </a:r>
            <a:r>
              <a:rPr lang="en-US" sz="2920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RS : </a:t>
            </a:r>
            <a:endParaRPr lang="en-US" sz="2920" b="1">
              <a:solidFill>
                <a:srgbClr val="FF6D4D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629920" lvl="1" indent="-314960" algn="l">
              <a:lnSpc>
                <a:spcPts val="4085"/>
              </a:lnSpc>
              <a:spcBef>
                <a:spcPct val="0"/>
              </a:spcBef>
              <a:buAutoNum type="arabicPeriod"/>
            </a:pPr>
            <a:r>
              <a:rPr lang="en-US" sz="292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T. N. S. SAMANVITHA</a:t>
            </a:r>
            <a:r>
              <a:rPr lang="en-US" sz="292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 (22501A05H6)</a:t>
            </a:r>
            <a:endParaRPr lang="en-US" sz="292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629920" lvl="1" indent="-314960" algn="l">
              <a:lnSpc>
                <a:spcPts val="4085"/>
              </a:lnSpc>
              <a:spcBef>
                <a:spcPct val="0"/>
              </a:spcBef>
              <a:buAutoNum type="arabicPeriod"/>
            </a:pPr>
            <a:r>
              <a:rPr lang="en-US" sz="292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T. GAYATHRI</a:t>
            </a:r>
            <a:r>
              <a:rPr lang="en-US" sz="292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                  (22501A05H7)</a:t>
            </a:r>
            <a:endParaRPr lang="en-US" sz="292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629920" lvl="1" indent="-314960" algn="l">
              <a:lnSpc>
                <a:spcPts val="4085"/>
              </a:lnSpc>
              <a:spcBef>
                <a:spcPct val="0"/>
              </a:spcBef>
              <a:buAutoNum type="arabicPeriod"/>
            </a:pPr>
            <a:r>
              <a:rPr lang="en-US" sz="292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V. GNANESWARI</a:t>
            </a:r>
            <a:r>
              <a:rPr lang="en-US" sz="292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           (22501A05J3)</a:t>
            </a:r>
            <a:endParaRPr lang="en-US" sz="292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629920" lvl="1" indent="-314960" algn="l">
              <a:lnSpc>
                <a:spcPts val="4085"/>
              </a:lnSpc>
              <a:spcBef>
                <a:spcPct val="0"/>
              </a:spcBef>
              <a:buAutoNum type="arabicPeriod"/>
            </a:pPr>
            <a:r>
              <a:rPr lang="en-US" sz="292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S. SUSHRUTH</a:t>
            </a:r>
            <a:r>
              <a:rPr lang="en-US" sz="292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                (22501A05G8)</a:t>
            </a:r>
            <a:endParaRPr lang="en-US" sz="292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ctr">
              <a:lnSpc>
                <a:spcPts val="4085"/>
              </a:lnSpc>
              <a:spcBef>
                <a:spcPct val="0"/>
              </a:spcBef>
            </a:pPr>
          </a:p>
        </p:txBody>
      </p:sp>
      <p:sp>
        <p:nvSpPr>
          <p:cNvPr id="11" name="TextBox 11"/>
          <p:cNvSpPr txBox="1"/>
          <p:nvPr/>
        </p:nvSpPr>
        <p:spPr>
          <a:xfrm>
            <a:off x="11369079" y="8336445"/>
            <a:ext cx="4884241" cy="2611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0"/>
              </a:lnSpc>
              <a:spcBef>
                <a:spcPct val="0"/>
              </a:spcBef>
            </a:pPr>
            <a:r>
              <a:rPr lang="en-US" sz="2920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G</a:t>
            </a:r>
            <a:r>
              <a:rPr lang="en-US" sz="2920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UIDE :</a:t>
            </a:r>
            <a:r>
              <a:rPr lang="en-US" sz="292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 </a:t>
            </a:r>
            <a:endParaRPr lang="en-US" sz="292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ctr">
              <a:lnSpc>
                <a:spcPts val="4090"/>
              </a:lnSpc>
              <a:spcBef>
                <a:spcPct val="0"/>
              </a:spcBef>
            </a:pPr>
            <a:r>
              <a:rPr lang="en-US" sz="292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Mr. Bala Bhaskara Rao Emani </a:t>
            </a:r>
            <a:endParaRPr lang="en-US" sz="292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ctr">
              <a:lnSpc>
                <a:spcPts val="4090"/>
              </a:lnSpc>
              <a:spcBef>
                <a:spcPct val="0"/>
              </a:spcBef>
            </a:pPr>
            <a:r>
              <a:rPr lang="en-US" sz="292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Assistant Professor</a:t>
            </a:r>
            <a:endParaRPr lang="en-US" sz="292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ctr">
              <a:lnSpc>
                <a:spcPts val="4090"/>
              </a:lnSpc>
              <a:spcBef>
                <a:spcPct val="0"/>
              </a:spcBef>
            </a:pPr>
          </a:p>
          <a:p>
            <a:pPr algn="ctr">
              <a:lnSpc>
                <a:spcPts val="409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2445567" y="2433699"/>
            <a:ext cx="1447044" cy="144704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5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40"/>
                </a:lnSpc>
                <a:spcBef>
                  <a:spcPct val="0"/>
                </a:spcBef>
              </a:pPr>
              <a:r>
                <a:rPr lang="en-US" sz="4600" b="1">
                  <a:solidFill>
                    <a:srgbClr val="FFFFFF"/>
                  </a:solidFill>
                  <a:latin typeface="Times New Roman MT Bold" panose="02030802070405020303"/>
                  <a:ea typeface="Times New Roman MT Bold" panose="02030802070405020303"/>
                  <a:cs typeface="Times New Roman MT Bold" panose="02030802070405020303"/>
                  <a:sym typeface="Times New Roman MT Bold" panose="02030802070405020303"/>
                </a:rPr>
                <a:t>1</a:t>
              </a:r>
              <a:endParaRPr lang="en-US" sz="46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46545" y="27940"/>
            <a:ext cx="4236720" cy="1536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85"/>
              </a:lnSpc>
              <a:spcBef>
                <a:spcPct val="0"/>
              </a:spcBef>
            </a:pPr>
            <a:r>
              <a:rPr lang="en-US" sz="856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Contents</a:t>
            </a:r>
            <a:endParaRPr lang="en-US" sz="856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5834977" y="2433699"/>
            <a:ext cx="1447044" cy="144704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5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40"/>
                </a:lnSpc>
                <a:spcBef>
                  <a:spcPct val="0"/>
                </a:spcBef>
              </a:pPr>
              <a:r>
                <a:rPr lang="en-US" sz="4600" b="1">
                  <a:solidFill>
                    <a:srgbClr val="FFFFFF"/>
                  </a:solidFill>
                  <a:latin typeface="Times New Roman MT Bold" panose="02030802070405020303"/>
                  <a:ea typeface="Times New Roman MT Bold" panose="02030802070405020303"/>
                  <a:cs typeface="Times New Roman MT Bold" panose="02030802070405020303"/>
                  <a:sym typeface="Times New Roman MT Bold" panose="02030802070405020303"/>
                </a:rPr>
                <a:t>2</a:t>
              </a:r>
              <a:endParaRPr lang="en-US" sz="46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738586" y="2433699"/>
            <a:ext cx="1447044" cy="144704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5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40"/>
                </a:lnSpc>
                <a:spcBef>
                  <a:spcPct val="0"/>
                </a:spcBef>
              </a:pPr>
              <a:r>
                <a:rPr lang="en-US" sz="4600" b="1">
                  <a:solidFill>
                    <a:srgbClr val="FFFFFF"/>
                  </a:solidFill>
                  <a:latin typeface="Times New Roman MT Bold" panose="02030802070405020303"/>
                  <a:ea typeface="Times New Roman MT Bold" panose="02030802070405020303"/>
                  <a:cs typeface="Times New Roman MT Bold" panose="02030802070405020303"/>
                  <a:sym typeface="Times New Roman MT Bold" panose="02030802070405020303"/>
                </a:rPr>
                <a:t>3</a:t>
              </a:r>
              <a:endParaRPr lang="en-US" sz="46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13935831" y="2405124"/>
            <a:ext cx="1447044" cy="144704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5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40"/>
                </a:lnSpc>
                <a:spcBef>
                  <a:spcPct val="0"/>
                </a:spcBef>
              </a:pPr>
              <a:r>
                <a:rPr lang="en-US" sz="4600" b="1">
                  <a:solidFill>
                    <a:srgbClr val="FFFFFF"/>
                  </a:solidFill>
                  <a:latin typeface="Times New Roman MT Bold" panose="02030802070405020303"/>
                  <a:ea typeface="Times New Roman MT Bold" panose="02030802070405020303"/>
                  <a:cs typeface="Times New Roman MT Bold" panose="02030802070405020303"/>
                  <a:sym typeface="Times New Roman MT Bold" panose="02030802070405020303"/>
                </a:rPr>
                <a:t>4</a:t>
              </a:r>
              <a:endParaRPr lang="en-US" sz="46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2474142" y="5349361"/>
            <a:ext cx="1447044" cy="1447044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5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40"/>
                </a:lnSpc>
                <a:spcBef>
                  <a:spcPct val="0"/>
                </a:spcBef>
              </a:pPr>
              <a:r>
                <a:rPr lang="en-US" sz="4600" b="1">
                  <a:solidFill>
                    <a:srgbClr val="FFFFFF"/>
                  </a:solidFill>
                  <a:latin typeface="Times New Roman MT Bold" panose="02030802070405020303"/>
                  <a:ea typeface="Times New Roman MT Bold" panose="02030802070405020303"/>
                  <a:cs typeface="Times New Roman MT Bold" panose="02030802070405020303"/>
                  <a:sym typeface="Times New Roman MT Bold" panose="02030802070405020303"/>
                </a:rPr>
                <a:t>5</a:t>
              </a:r>
              <a:endParaRPr lang="en-US" sz="46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5854027" y="5358886"/>
            <a:ext cx="1447044" cy="1447044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53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40"/>
                </a:lnSpc>
                <a:spcBef>
                  <a:spcPct val="0"/>
                </a:spcBef>
              </a:pPr>
              <a:r>
                <a:rPr lang="en-US" sz="4600" b="1">
                  <a:solidFill>
                    <a:srgbClr val="FFFFFF"/>
                  </a:solidFill>
                  <a:latin typeface="Times New Roman MT Bold" panose="02030802070405020303"/>
                  <a:ea typeface="Times New Roman MT Bold" panose="02030802070405020303"/>
                  <a:cs typeface="Times New Roman MT Bold" panose="02030802070405020303"/>
                  <a:sym typeface="Times New Roman MT Bold" panose="02030802070405020303"/>
                </a:rPr>
                <a:t>6</a:t>
              </a:r>
              <a:endParaRPr lang="en-US" sz="46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805261" y="5416036"/>
            <a:ext cx="1447044" cy="144704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53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40"/>
                </a:lnSpc>
                <a:spcBef>
                  <a:spcPct val="0"/>
                </a:spcBef>
              </a:pPr>
              <a:r>
                <a:rPr lang="en-US" sz="4600" b="1">
                  <a:solidFill>
                    <a:srgbClr val="FFFFFF"/>
                  </a:solidFill>
                  <a:latin typeface="Times New Roman MT Bold" panose="02030802070405020303"/>
                  <a:ea typeface="Times New Roman MT Bold" panose="02030802070405020303"/>
                  <a:cs typeface="Times New Roman MT Bold" panose="02030802070405020303"/>
                  <a:sym typeface="Times New Roman MT Bold" panose="02030802070405020303"/>
                </a:rPr>
                <a:t>7</a:t>
              </a:r>
              <a:endParaRPr lang="en-US" sz="46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354461" y="3830284"/>
            <a:ext cx="1723628" cy="72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Abstract</a:t>
            </a:r>
            <a:endParaRPr lang="en-US" sz="38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5373661" y="3830284"/>
            <a:ext cx="2468662" cy="72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Introduction</a:t>
            </a:r>
            <a:endParaRPr lang="en-US" sz="38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791327" y="3830284"/>
            <a:ext cx="3825578" cy="72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Base Paper Details</a:t>
            </a:r>
            <a:endParaRPr lang="en-US" sz="38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3730684" y="3830284"/>
            <a:ext cx="2091829" cy="72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Objectives</a:t>
            </a:r>
            <a:endParaRPr lang="en-US" sz="38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918295" y="6840071"/>
            <a:ext cx="2764036" cy="72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Input Dataset</a:t>
            </a:r>
            <a:endParaRPr lang="en-US" sz="38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5344392" y="6859121"/>
            <a:ext cx="2708970" cy="72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Requirements</a:t>
            </a:r>
            <a:endParaRPr lang="en-US" sz="38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369376" y="6840071"/>
            <a:ext cx="2669481" cy="72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Methodology</a:t>
            </a:r>
            <a:endParaRPr lang="en-US" sz="38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grpSp>
        <p:nvGrpSpPr>
          <p:cNvPr id="39" name="Group 39"/>
          <p:cNvGrpSpPr/>
          <p:nvPr/>
        </p:nvGrpSpPr>
        <p:grpSpPr>
          <a:xfrm rot="0">
            <a:off x="13935831" y="5406511"/>
            <a:ext cx="1447044" cy="1447044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53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-104775"/>
              <a:ext cx="6604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440"/>
                </a:lnSpc>
                <a:spcBef>
                  <a:spcPct val="0"/>
                </a:spcBef>
              </a:pPr>
              <a:r>
                <a:rPr lang="en-US" sz="4600" b="1">
                  <a:solidFill>
                    <a:srgbClr val="FFFFFF"/>
                  </a:solidFill>
                  <a:latin typeface="Times New Roman MT Bold" panose="02030802070405020303"/>
                  <a:ea typeface="Times New Roman MT Bold" panose="02030802070405020303"/>
                  <a:cs typeface="Times New Roman MT Bold" panose="02030802070405020303"/>
                  <a:sym typeface="Times New Roman MT Bold" panose="02030802070405020303"/>
                </a:rPr>
                <a:t>8</a:t>
              </a:r>
              <a:endParaRPr lang="en-US" sz="4600" b="1">
                <a:solidFill>
                  <a:srgbClr val="FFFFFF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3353306" y="6840071"/>
            <a:ext cx="2945011" cy="72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Plan of Action</a:t>
            </a:r>
            <a:endParaRPr lang="en-US" sz="38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18858" y="1998675"/>
            <a:ext cx="10519996" cy="730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5"/>
              </a:lnSpc>
            </a:pPr>
            <a:r>
              <a:rPr lang="en-US" sz="274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Eye Diseases as a Crucial Focus</a:t>
            </a:r>
            <a:endParaRPr lang="en-US" sz="2745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just">
              <a:lnSpc>
                <a:spcPts val="3845"/>
              </a:lnSpc>
            </a:pP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Eye diseases such as </a:t>
            </a:r>
            <a:r>
              <a:rPr lang="en-US" sz="2745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cataract, glaucoma, and diabetic retinopathy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are 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a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mo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n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g th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e lea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d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ing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causes of vision loss w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o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rldw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i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d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e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. Ear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y and accurate detection p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la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y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s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a v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i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a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 r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o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le i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n 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pr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e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venting blindness and improving quality of life. This project aims to build an </a:t>
            </a:r>
            <a:r>
              <a:rPr lang="en-US" sz="2745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automate</a:t>
            </a:r>
            <a:r>
              <a:rPr lang="en-US" sz="2745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 deep learning-based system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th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a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 can classify these diseases from retinal images, providing a reliable and scalable solution for clinical use.</a:t>
            </a:r>
            <a:endParaRPr lang="en-US" sz="274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ts val="3845"/>
              </a:lnSpc>
            </a:pPr>
          </a:p>
          <a:p>
            <a:pPr algn="just">
              <a:lnSpc>
                <a:spcPts val="3845"/>
              </a:lnSpc>
            </a:pPr>
            <a:r>
              <a:rPr lang="en-US" sz="274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Algorithms Used</a:t>
            </a:r>
            <a:endParaRPr lang="en-US" sz="2745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just">
              <a:lnSpc>
                <a:spcPts val="3845"/>
              </a:lnSpc>
            </a:pP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This project uses </a:t>
            </a:r>
            <a:r>
              <a:rPr lang="en-US" sz="2745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ResNet (ImageNet-pretrained)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for transfer learning, </a:t>
            </a:r>
            <a:r>
              <a:rPr lang="en-US" sz="2745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Convolutional Neural Networks (CNNs)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for classification, and </a:t>
            </a:r>
            <a:r>
              <a:rPr lang="en-US" sz="2745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Autoencoders</a:t>
            </a:r>
            <a:r>
              <a:rPr lang="en-US" sz="274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along with data augmentation techniques to enhance model robustness.</a:t>
            </a:r>
            <a:endParaRPr lang="en-US" sz="274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ts val="3845"/>
              </a:lnSpc>
            </a:pPr>
          </a:p>
          <a:p>
            <a:pPr algn="just">
              <a:lnSpc>
                <a:spcPts val="3845"/>
              </a:lnSpc>
            </a:pPr>
          </a:p>
        </p:txBody>
      </p:sp>
      <p:sp>
        <p:nvSpPr>
          <p:cNvPr id="11" name="Freeform 11"/>
          <p:cNvSpPr/>
          <p:nvPr/>
        </p:nvSpPr>
        <p:spPr>
          <a:xfrm>
            <a:off x="12926120" y="3210561"/>
            <a:ext cx="5191122" cy="3465074"/>
          </a:xfrm>
          <a:custGeom>
            <a:avLst/>
            <a:gdLst/>
            <a:ahLst/>
            <a:cxnLst/>
            <a:rect l="l" t="t" r="r" b="b"/>
            <a:pathLst>
              <a:path w="5191122" h="3465074">
                <a:moveTo>
                  <a:pt x="0" y="0"/>
                </a:moveTo>
                <a:lnTo>
                  <a:pt x="5191122" y="0"/>
                </a:lnTo>
                <a:lnTo>
                  <a:pt x="5191122" y="3465074"/>
                </a:lnTo>
                <a:lnTo>
                  <a:pt x="0" y="34650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606662" y="405408"/>
            <a:ext cx="8960375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846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Abstract</a:t>
            </a:r>
            <a:endParaRPr lang="en-US" sz="846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269035" y="6188706"/>
            <a:ext cx="8212949" cy="3991395"/>
          </a:xfrm>
          <a:custGeom>
            <a:avLst/>
            <a:gdLst/>
            <a:ahLst/>
            <a:cxnLst/>
            <a:rect l="l" t="t" r="r" b="b"/>
            <a:pathLst>
              <a:path w="8212949" h="3991395">
                <a:moveTo>
                  <a:pt x="0" y="0"/>
                </a:moveTo>
                <a:lnTo>
                  <a:pt x="8212949" y="0"/>
                </a:lnTo>
                <a:lnTo>
                  <a:pt x="8212949" y="3991395"/>
                </a:lnTo>
                <a:lnTo>
                  <a:pt x="0" y="3991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441" b="-144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282812" y="310153"/>
            <a:ext cx="8960375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8460" b="1" u="sng">
                <a:solidFill>
                  <a:srgbClr val="034697"/>
                </a:solidFill>
                <a:latin typeface="Futura Bold" panose="020B0702020204020203"/>
                <a:ea typeface="Futura Bold" panose="020B0702020204020203"/>
                <a:cs typeface="Futura Bold" panose="020B0702020204020203"/>
                <a:sym typeface="Futura Bold" panose="020B0702020204020203"/>
              </a:rPr>
              <a:t>Introduction</a:t>
            </a:r>
            <a:endParaRPr lang="en-US" sz="8460" b="1" u="sng">
              <a:solidFill>
                <a:srgbClr val="034697"/>
              </a:solidFill>
              <a:latin typeface="Futura Bold" panose="020B0702020204020203"/>
              <a:ea typeface="Futura Bold" panose="020B0702020204020203"/>
              <a:cs typeface="Futura Bold" panose="020B0702020204020203"/>
              <a:sym typeface="Futura Bold" panose="020B070202020402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45469" y="1614730"/>
            <a:ext cx="13923599" cy="4768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1180" lvl="1" indent="-275590" algn="just">
              <a:lnSpc>
                <a:spcPts val="4260"/>
              </a:lnSpc>
              <a:buFont typeface="Arial" panose="020B0604020202020204"/>
              <a:buChar char="•"/>
            </a:pPr>
            <a:r>
              <a:rPr lang="en-US" sz="25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Gl</a:t>
            </a:r>
            <a:r>
              <a:rPr lang="en-US" sz="25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obal Concern:</a:t>
            </a:r>
            <a:r>
              <a:rPr lang="en-US" sz="25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Cataract and glaucoma are among the leading causes of blindness worldwide.</a:t>
            </a:r>
            <a:endParaRPr lang="en-US" sz="255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551180" lvl="1" indent="-275590" algn="just">
              <a:lnSpc>
                <a:spcPts val="4260"/>
              </a:lnSpc>
              <a:buFont typeface="Arial" panose="020B0604020202020204"/>
              <a:buChar char="•"/>
            </a:pPr>
            <a:r>
              <a:rPr lang="en-US" sz="25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Need for Early Detection:</a:t>
            </a:r>
            <a:r>
              <a:rPr lang="en-US" sz="25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Timely diagnosis can prevent vision loss and reduce healthcare costs.</a:t>
            </a:r>
            <a:endParaRPr lang="en-US" sz="255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551180" lvl="1" indent="-275590" algn="just">
              <a:lnSpc>
                <a:spcPts val="4260"/>
              </a:lnSpc>
              <a:buFont typeface="Arial" panose="020B0604020202020204"/>
              <a:buChar char="•"/>
            </a:pPr>
            <a:r>
              <a:rPr lang="en-US" sz="25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Limitations of Manual Screening:</a:t>
            </a:r>
            <a:r>
              <a:rPr lang="en-US" sz="25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Requires specialists, is time-consuming, and may vary in accuracy.</a:t>
            </a:r>
            <a:endParaRPr lang="en-US" sz="255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551180" lvl="1" indent="-275590" algn="just">
              <a:lnSpc>
                <a:spcPts val="4260"/>
              </a:lnSpc>
              <a:buFont typeface="Arial" panose="020B0604020202020204"/>
              <a:buChar char="•"/>
            </a:pPr>
            <a:r>
              <a:rPr lang="en-US" sz="25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Role of AI &amp; Deep Learning:</a:t>
            </a:r>
            <a:r>
              <a:rPr lang="en-US" sz="25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Automates feature extraction, improves accuracy, and enables scalable screening.</a:t>
            </a:r>
            <a:endParaRPr lang="en-US" sz="255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551180" lvl="1" indent="-275590" algn="just">
              <a:lnSpc>
                <a:spcPts val="4260"/>
              </a:lnSpc>
              <a:buFont typeface="Arial" panose="020B0604020202020204"/>
              <a:buChar char="•"/>
            </a:pPr>
            <a:r>
              <a:rPr lang="en-US" sz="25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Focus on Eye Health:</a:t>
            </a:r>
            <a:r>
              <a:rPr lang="en-US" sz="25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Retinal imaging is non-invasive and ideal for early, large-scale disease detection.</a:t>
            </a:r>
            <a:endParaRPr lang="en-US" sz="255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ts val="357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663812" y="281684"/>
            <a:ext cx="8960375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846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Base Paper Details</a:t>
            </a:r>
            <a:endParaRPr lang="en-US" sz="846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7750" y="2329815"/>
            <a:ext cx="16230600" cy="643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Title : </a:t>
            </a: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Cataract and glaucoma detection based on Transfer Learning using MobileNet </a:t>
            </a:r>
            <a:endParaRPr lang="en-US" sz="36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Link : </a:t>
            </a:r>
            <a:r>
              <a:rPr lang="en-US" sz="3600" u="sng">
                <a:solidFill>
                  <a:srgbClr val="358DFE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https://www.sciencedirect.com/science/article/pii/S2405844024127909</a:t>
            </a:r>
            <a:endParaRPr lang="en-US" sz="3600" u="sng">
              <a:solidFill>
                <a:srgbClr val="358DFE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Summary :</a:t>
            </a:r>
            <a:endParaRPr lang="en-US" sz="36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The classification of eye diseases, specifically </a:t>
            </a:r>
            <a:r>
              <a:rPr lang="en-US" sz="3600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Cataract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and </a:t>
            </a:r>
            <a:r>
              <a:rPr lang="en-US" sz="3600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Glaucoma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, is done using Deep Learning techniques.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The authors used </a:t>
            </a:r>
            <a:r>
              <a:rPr lang="en-US" sz="3600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Transfer learning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with </a:t>
            </a:r>
            <a:r>
              <a:rPr lang="en-US" sz="3600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MobileNetV1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and </a:t>
            </a:r>
            <a:r>
              <a:rPr lang="en-US" sz="3600" b="1">
                <a:solidFill>
                  <a:srgbClr val="FF6D4D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MobileNetV2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models to perform classification.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The approach applies deep learning to automatically learn features from retinal images and distinguish between different eye conditions.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66055" y="1596390"/>
            <a:ext cx="10871341" cy="770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Limitations:</a:t>
            </a:r>
            <a:endParaRPr lang="en-US" sz="36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Limited Dataset Size: 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Only 500 images were used, which restricts the ability of the model to generalize and increases the risk of overfitting.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Class Imbalance: 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A higher number of normal images compared to cataract and glaucoma images could bias the model predictions.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Moderate Multi-Class Performance: 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While binary classification results were strong, the model struggled to clearly distinguish between cataract, glaucoma, and normal cases.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id="11" name="Freeform 11"/>
          <p:cNvSpPr/>
          <p:nvPr/>
        </p:nvSpPr>
        <p:spPr>
          <a:xfrm>
            <a:off x="11931694" y="3611365"/>
            <a:ext cx="5996009" cy="3491794"/>
          </a:xfrm>
          <a:custGeom>
            <a:avLst/>
            <a:gdLst/>
            <a:ahLst/>
            <a:cxnLst/>
            <a:rect l="l" t="t" r="r" b="b"/>
            <a:pathLst>
              <a:path w="5996009" h="3491794">
                <a:moveTo>
                  <a:pt x="0" y="0"/>
                </a:moveTo>
                <a:lnTo>
                  <a:pt x="5996009" y="0"/>
                </a:lnTo>
                <a:lnTo>
                  <a:pt x="5996009" y="3491794"/>
                </a:lnTo>
                <a:lnTo>
                  <a:pt x="0" y="34917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663812" y="281684"/>
            <a:ext cx="8960375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846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Base Paper Details</a:t>
            </a:r>
            <a:endParaRPr lang="en-US" sz="846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71344" y="1662355"/>
            <a:ext cx="8909276" cy="7373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05" lvl="1" indent="-318770" algn="just">
              <a:lnSpc>
                <a:spcPts val="4130"/>
              </a:lnSpc>
              <a:buFont typeface="Arial" panose="020B0604020202020204"/>
              <a:buChar char="•"/>
            </a:pP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Increase Dataset Size</a:t>
            </a:r>
            <a:r>
              <a:rPr lang="en-US" sz="29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: Collect or use a </a:t>
            </a: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larger dataset</a:t>
            </a:r>
            <a:r>
              <a:rPr lang="en-US" sz="29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to improve model generalization and reduce overfitting.</a:t>
            </a:r>
            <a:endParaRPr lang="en-US" sz="295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636905" lvl="1" indent="-318770" algn="just">
              <a:lnSpc>
                <a:spcPts val="4130"/>
              </a:lnSpc>
              <a:buFont typeface="Arial" panose="020B0604020202020204"/>
              <a:buChar char="•"/>
            </a:pP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Balance </a:t>
            </a: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Class Distribution</a:t>
            </a:r>
            <a:r>
              <a:rPr lang="en-US" sz="29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: Ensure equal number of images for each class </a:t>
            </a: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(Normal, Cataract, Glaucoma, Diabetic Retinopathy)</a:t>
            </a:r>
            <a:r>
              <a:rPr lang="en-US" sz="29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to avoid prediction bias.</a:t>
            </a:r>
            <a:endParaRPr lang="en-US" sz="295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636905" lvl="1" indent="-318770" algn="just">
              <a:lnSpc>
                <a:spcPts val="4130"/>
              </a:lnSpc>
              <a:buFont typeface="Arial" panose="020B0604020202020204"/>
              <a:buChar char="•"/>
            </a:pP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Exp</a:t>
            </a: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and Multi-Class Classification</a:t>
            </a:r>
            <a:r>
              <a:rPr lang="en-US" sz="29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: Add </a:t>
            </a: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Diabetic Retinopathy</a:t>
            </a:r>
            <a:r>
              <a:rPr lang="en-US" sz="29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as a new class, creating a more comprehensive model for early eye disease detection.</a:t>
            </a:r>
            <a:endParaRPr lang="en-US" sz="295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636905" lvl="1" indent="-318770" algn="just">
              <a:lnSpc>
                <a:spcPts val="4130"/>
              </a:lnSpc>
              <a:buFont typeface="Arial" panose="020B0604020202020204"/>
              <a:buChar char="•"/>
            </a:pP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Improve Model Robustness: </a:t>
            </a:r>
            <a:r>
              <a:rPr lang="en-US" sz="29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Train and fine-tune a </a:t>
            </a:r>
            <a:r>
              <a:rPr lang="en-US" sz="295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CNN-based model</a:t>
            </a:r>
            <a:r>
              <a:rPr lang="en-US" sz="295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to achieve better performance in multi-class classification.</a:t>
            </a:r>
            <a:endParaRPr lang="en-US" sz="295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ts val="4130"/>
              </a:lnSpc>
              <a:spcBef>
                <a:spcPct val="0"/>
              </a:spcBef>
            </a:pPr>
          </a:p>
        </p:txBody>
      </p:sp>
      <p:sp>
        <p:nvSpPr>
          <p:cNvPr id="11" name="Freeform 11"/>
          <p:cNvSpPr/>
          <p:nvPr/>
        </p:nvSpPr>
        <p:spPr>
          <a:xfrm>
            <a:off x="11711089" y="2892327"/>
            <a:ext cx="4707964" cy="4707964"/>
          </a:xfrm>
          <a:custGeom>
            <a:avLst/>
            <a:gdLst/>
            <a:ahLst/>
            <a:cxnLst/>
            <a:rect l="l" t="t" r="r" b="b"/>
            <a:pathLst>
              <a:path w="4707964" h="4707964">
                <a:moveTo>
                  <a:pt x="0" y="0"/>
                </a:moveTo>
                <a:lnTo>
                  <a:pt x="4707965" y="0"/>
                </a:lnTo>
                <a:lnTo>
                  <a:pt x="4707965" y="4707964"/>
                </a:lnTo>
                <a:lnTo>
                  <a:pt x="0" y="47079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663812" y="281684"/>
            <a:ext cx="8960375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846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Objectives</a:t>
            </a:r>
            <a:endParaRPr lang="en-US" sz="846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9290" y="1548765"/>
            <a:ext cx="8102694" cy="7709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The dataset consists 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of </a:t>
            </a: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Retinal fundus images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captured using fundus cameras.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Images belong to three categories: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1554480" lvl="2" indent="-518160" algn="l">
              <a:lnSpc>
                <a:spcPts val="5040"/>
              </a:lnSpc>
              <a:spcBef>
                <a:spcPct val="0"/>
              </a:spcBef>
              <a:buFont typeface="Arial" panose="020B0604020202020204"/>
              <a:buChar char="⚬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Normal (Healthy)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no visible abnormality.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1554480" lvl="2" indent="-518160" algn="l">
              <a:lnSpc>
                <a:spcPts val="5040"/>
              </a:lnSpc>
              <a:spcBef>
                <a:spcPct val="0"/>
              </a:spcBef>
              <a:buFont typeface="Arial" panose="020B0604020202020204"/>
              <a:buChar char="⚬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Cataract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cloudy or opaque lens appearance.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1554480" lvl="2" indent="-518160" algn="l">
              <a:lnSpc>
                <a:spcPts val="5040"/>
              </a:lnSpc>
              <a:spcBef>
                <a:spcPct val="0"/>
              </a:spcBef>
              <a:buFont typeface="Arial" panose="020B0604020202020204"/>
              <a:buChar char="⚬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Glaucoma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optic disc cupping and nerve damage signs.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 panose="020B0604020202020204"/>
              <a:buChar char="•"/>
            </a:pPr>
          </a:p>
          <a:p>
            <a:pPr algn="l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id="11" name="Freeform 11"/>
          <p:cNvSpPr/>
          <p:nvPr/>
        </p:nvSpPr>
        <p:spPr>
          <a:xfrm>
            <a:off x="8818574" y="2783018"/>
            <a:ext cx="8942484" cy="4662476"/>
          </a:xfrm>
          <a:custGeom>
            <a:avLst/>
            <a:gdLst/>
            <a:ahLst/>
            <a:cxnLst/>
            <a:rect l="l" t="t" r="r" b="b"/>
            <a:pathLst>
              <a:path w="8942484" h="4662476">
                <a:moveTo>
                  <a:pt x="0" y="0"/>
                </a:moveTo>
                <a:lnTo>
                  <a:pt x="8942484" y="0"/>
                </a:lnTo>
                <a:lnTo>
                  <a:pt x="8942484" y="4662477"/>
                </a:lnTo>
                <a:lnTo>
                  <a:pt x="0" y="46624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663812" y="281684"/>
            <a:ext cx="8960375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30"/>
              </a:lnSpc>
              <a:spcBef>
                <a:spcPct val="0"/>
              </a:spcBef>
            </a:pPr>
            <a:r>
              <a:rPr lang="en-US" sz="846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Input Dataset</a:t>
            </a:r>
            <a:endParaRPr lang="en-US" sz="846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44860" y="2273151"/>
            <a:ext cx="9534789" cy="7071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Hardware Requirements</a:t>
            </a:r>
            <a:endParaRPr lang="en-US" sz="36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Processor: 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Intel i5 / i7 or equivalent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RAM: 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8 GB or higher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GPU: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Optional for small datasets, but recommended for faster deep learning training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Operating System: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Windows 10/11, macOS, or Linux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Alternative: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Google Colab (cloud-based, no local hardware requirement)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id="11" name="Freeform 11"/>
          <p:cNvSpPr/>
          <p:nvPr/>
        </p:nvSpPr>
        <p:spPr>
          <a:xfrm>
            <a:off x="10403869" y="2454126"/>
            <a:ext cx="8121561" cy="5938891"/>
          </a:xfrm>
          <a:custGeom>
            <a:avLst/>
            <a:gdLst/>
            <a:ahLst/>
            <a:cxnLst/>
            <a:rect l="l" t="t" r="r" b="b"/>
            <a:pathLst>
              <a:path w="8121561" h="5938891">
                <a:moveTo>
                  <a:pt x="0" y="0"/>
                </a:moveTo>
                <a:lnTo>
                  <a:pt x="8121561" y="0"/>
                </a:lnTo>
                <a:lnTo>
                  <a:pt x="8121561" y="5938891"/>
                </a:lnTo>
                <a:lnTo>
                  <a:pt x="0" y="59388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663812" y="329203"/>
            <a:ext cx="8960375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846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Requirements</a:t>
            </a:r>
            <a:endParaRPr lang="en-US" sz="846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630458" y="5585332"/>
            <a:ext cx="3339593" cy="3339593"/>
          </a:xfrm>
          <a:custGeom>
            <a:avLst/>
            <a:gdLst/>
            <a:ahLst/>
            <a:cxnLst/>
            <a:rect l="l" t="t" r="r" b="b"/>
            <a:pathLst>
              <a:path w="3339593" h="3339593">
                <a:moveTo>
                  <a:pt x="0" y="0"/>
                </a:moveTo>
                <a:lnTo>
                  <a:pt x="3339593" y="0"/>
                </a:lnTo>
                <a:lnTo>
                  <a:pt x="3339593" y="3339593"/>
                </a:lnTo>
                <a:lnTo>
                  <a:pt x="0" y="33395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44000" y="5464773"/>
            <a:ext cx="6744048" cy="3793527"/>
          </a:xfrm>
          <a:custGeom>
            <a:avLst/>
            <a:gdLst/>
            <a:ahLst/>
            <a:cxnLst/>
            <a:rect l="l" t="t" r="r" b="b"/>
            <a:pathLst>
              <a:path w="6744048" h="3793527">
                <a:moveTo>
                  <a:pt x="0" y="0"/>
                </a:moveTo>
                <a:lnTo>
                  <a:pt x="6744048" y="0"/>
                </a:lnTo>
                <a:lnTo>
                  <a:pt x="6744048" y="3793527"/>
                </a:lnTo>
                <a:lnTo>
                  <a:pt x="0" y="37935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663812" y="329203"/>
            <a:ext cx="8960375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846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Requirements</a:t>
            </a:r>
            <a:endParaRPr lang="en-US" sz="846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16310" y="2281237"/>
            <a:ext cx="10288737" cy="3242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Software Requirements</a:t>
            </a:r>
            <a:endParaRPr lang="en-US" sz="36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Programming Language: </a:t>
            </a: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Python 3.x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Development Environment</a:t>
            </a:r>
            <a:r>
              <a:rPr lang="en-US" sz="3600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:</a:t>
            </a:r>
            <a:endParaRPr lang="en-US" sz="3600" b="1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  <a:p>
            <a:pPr marL="1554480" lvl="2" indent="-518160" algn="just">
              <a:lnSpc>
                <a:spcPts val="5040"/>
              </a:lnSpc>
              <a:buFont typeface="Arial" panose="020B0604020202020204"/>
              <a:buChar char="⚬"/>
            </a:pPr>
            <a:r>
              <a:rPr lang="en-US" sz="3600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Jupyter Notebook / Google Colab / VS Code</a:t>
            </a:r>
            <a:endParaRPr lang="en-US" sz="3600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just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914830" y="3135507"/>
            <a:ext cx="11082718" cy="4294478"/>
          </a:xfrm>
          <a:custGeom>
            <a:avLst/>
            <a:gdLst/>
            <a:ahLst/>
            <a:cxnLst/>
            <a:rect l="l" t="t" r="r" b="b"/>
            <a:pathLst>
              <a:path w="11082718" h="4294478">
                <a:moveTo>
                  <a:pt x="0" y="0"/>
                </a:moveTo>
                <a:lnTo>
                  <a:pt x="11082718" y="0"/>
                </a:lnTo>
                <a:lnTo>
                  <a:pt x="11082718" y="4294479"/>
                </a:lnTo>
                <a:lnTo>
                  <a:pt x="0" y="42944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97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19619" y="433978"/>
            <a:ext cx="9304569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8460" b="1" u="sng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Methodology</a:t>
            </a:r>
            <a:endParaRPr lang="en-US" sz="8460" b="1" u="sng">
              <a:solidFill>
                <a:srgbClr val="000000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78844" y="1907390"/>
            <a:ext cx="5536591" cy="705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0" lvl="1" indent="-241300" algn="l">
              <a:lnSpc>
                <a:spcPts val="31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3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Data Collection</a:t>
            </a:r>
            <a:r>
              <a:rPr lang="en-US" sz="223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Gather images for Normal, Cataract, Glaucoma, and Diabetic Retinopathy.</a:t>
            </a:r>
            <a:endParaRPr lang="en-US" sz="223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482600" lvl="1" indent="-241300" algn="l">
              <a:lnSpc>
                <a:spcPts val="31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3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Preprocessing</a:t>
            </a:r>
            <a:r>
              <a:rPr lang="en-US" sz="223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Resize, normalize, and augment images.</a:t>
            </a:r>
            <a:endParaRPr lang="en-US" sz="223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482600" lvl="1" indent="-241300" algn="l">
              <a:lnSpc>
                <a:spcPts val="31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3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Model Selection</a:t>
            </a:r>
            <a:r>
              <a:rPr lang="en-US" sz="223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Use ResNet (ImageNet-pretrained) and Autoencoders.</a:t>
            </a:r>
            <a:endParaRPr lang="en-US" sz="223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482600" lvl="1" indent="-241300" algn="l">
              <a:lnSpc>
                <a:spcPts val="31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3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Training</a:t>
            </a:r>
            <a:r>
              <a:rPr lang="en-US" sz="223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Train the model on the dataset with transfer learning.</a:t>
            </a:r>
            <a:endParaRPr lang="en-US" sz="223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482600" lvl="1" indent="-241300" algn="l">
              <a:lnSpc>
                <a:spcPts val="31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3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Validation </a:t>
            </a:r>
            <a:r>
              <a:rPr lang="en-US" sz="223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– Tune hyperparameters and monitor performance.</a:t>
            </a:r>
            <a:endParaRPr lang="en-US" sz="223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482600" lvl="1" indent="-241300" algn="l">
              <a:lnSpc>
                <a:spcPts val="31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3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Testing</a:t>
            </a:r>
            <a:r>
              <a:rPr lang="en-US" sz="223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Evaluate on unseen test images.</a:t>
            </a:r>
            <a:endParaRPr lang="en-US" sz="223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482600" lvl="1" indent="-241300" algn="l">
              <a:lnSpc>
                <a:spcPts val="31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3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Result Analysis</a:t>
            </a:r>
            <a:r>
              <a:rPr lang="en-US" sz="223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Measure accuracy, precision, recall, and F1-score.</a:t>
            </a:r>
            <a:endParaRPr lang="en-US" sz="223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marL="482600" lvl="1" indent="-241300" algn="l">
              <a:lnSpc>
                <a:spcPts val="313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2235" b="1">
                <a:solidFill>
                  <a:srgbClr val="000000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Conclusion</a:t>
            </a:r>
            <a:r>
              <a:rPr lang="en-US" sz="2235">
                <a:solidFill>
                  <a:srgbClr val="000000"/>
                </a:solidFill>
                <a:latin typeface="Times New Roman MT" panose="02030502070405020303"/>
                <a:ea typeface="Times New Roman MT" panose="02030502070405020303"/>
                <a:cs typeface="Times New Roman MT" panose="02030502070405020303"/>
                <a:sym typeface="Times New Roman MT" panose="02030502070405020303"/>
              </a:rPr>
              <a:t> – Summarize results and suggest future improvements.</a:t>
            </a:r>
            <a:endParaRPr lang="en-US" sz="2235">
              <a:solidFill>
                <a:srgbClr val="000000"/>
              </a:solidFill>
              <a:latin typeface="Times New Roman MT" panose="02030502070405020303"/>
              <a:ea typeface="Times New Roman MT" panose="02030502070405020303"/>
              <a:cs typeface="Times New Roman MT" panose="02030502070405020303"/>
              <a:sym typeface="Times New Roman MT" panose="02030502070405020303"/>
            </a:endParaRPr>
          </a:p>
          <a:p>
            <a:pPr algn="l">
              <a:lnSpc>
                <a:spcPts val="31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32723" y="3614576"/>
            <a:ext cx="3698988" cy="2099176"/>
          </a:xfrm>
          <a:custGeom>
            <a:avLst/>
            <a:gdLst/>
            <a:ahLst/>
            <a:cxnLst/>
            <a:rect l="l" t="t" r="r" b="b"/>
            <a:pathLst>
              <a:path w="3698988" h="2099176">
                <a:moveTo>
                  <a:pt x="0" y="0"/>
                </a:moveTo>
                <a:lnTo>
                  <a:pt x="3698989" y="0"/>
                </a:lnTo>
                <a:lnTo>
                  <a:pt x="3698989" y="2099176"/>
                </a:lnTo>
                <a:lnTo>
                  <a:pt x="0" y="20991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391317" y="1453048"/>
            <a:ext cx="8111934" cy="8675865"/>
          </a:xfrm>
          <a:custGeom>
            <a:avLst/>
            <a:gdLst/>
            <a:ahLst/>
            <a:cxnLst/>
            <a:rect l="l" t="t" r="r" b="b"/>
            <a:pathLst>
              <a:path w="8111934" h="8675865">
                <a:moveTo>
                  <a:pt x="0" y="0"/>
                </a:moveTo>
                <a:lnTo>
                  <a:pt x="8111934" y="0"/>
                </a:lnTo>
                <a:lnTo>
                  <a:pt x="8111934" y="8675865"/>
                </a:lnTo>
                <a:lnTo>
                  <a:pt x="0" y="86758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530462" y="243584"/>
            <a:ext cx="8960375" cy="1209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846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Plan of Action</a:t>
            </a:r>
            <a:endParaRPr lang="en-US" sz="846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617617" y="3399568"/>
            <a:ext cx="4092492" cy="3035265"/>
          </a:xfrm>
          <a:custGeom>
            <a:avLst/>
            <a:gdLst/>
            <a:ahLst/>
            <a:cxnLst/>
            <a:rect l="l" t="t" r="r" b="b"/>
            <a:pathLst>
              <a:path w="4092492" h="3035265">
                <a:moveTo>
                  <a:pt x="0" y="0"/>
                </a:moveTo>
                <a:lnTo>
                  <a:pt x="4092491" y="0"/>
                </a:lnTo>
                <a:lnTo>
                  <a:pt x="4092491" y="3035265"/>
                </a:lnTo>
                <a:lnTo>
                  <a:pt x="0" y="303526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160125" y="4111988"/>
            <a:ext cx="7539424" cy="1778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125"/>
              </a:lnSpc>
            </a:pPr>
            <a:r>
              <a:rPr lang="en-US" sz="12500" b="1" u="sng">
                <a:solidFill>
                  <a:srgbClr val="034697"/>
                </a:solidFill>
                <a:latin typeface="Times New Roman MT Bold" panose="02030802070405020303"/>
                <a:ea typeface="Times New Roman MT Bold" panose="02030802070405020303"/>
                <a:cs typeface="Times New Roman MT Bold" panose="02030802070405020303"/>
                <a:sym typeface="Times New Roman MT Bold" panose="02030802070405020303"/>
              </a:rPr>
              <a:t>Thank You</a:t>
            </a:r>
            <a:endParaRPr lang="en-US" sz="12500" b="1" u="sng">
              <a:solidFill>
                <a:srgbClr val="034697"/>
              </a:solidFill>
              <a:latin typeface="Times New Roman MT Bold" panose="02030802070405020303"/>
              <a:ea typeface="Times New Roman MT Bold" panose="02030802070405020303"/>
              <a:cs typeface="Times New Roman MT Bold" panose="02030802070405020303"/>
              <a:sym typeface="Times New Roman MT Bold" panose="020308020704050203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4412</Words>
  <Application>WPS Presentation</Application>
  <PresentationFormat>On-screen Show (4:3)</PresentationFormat>
  <Paragraphs>141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Times New Roman MT Bold</vt:lpstr>
      <vt:lpstr>Futura Bold</vt:lpstr>
      <vt:lpstr>Times New Roman MT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ResNet50 - Autoencoder Framework for Multi - Class Eye Disease Classification Zeroth Review</dc:title>
  <dc:creator/>
  <cp:lastModifiedBy>Samanvitha Tadepalli</cp:lastModifiedBy>
  <cp:revision>2</cp:revision>
  <dcterms:created xsi:type="dcterms:W3CDTF">2006-08-16T00:00:00Z</dcterms:created>
  <dcterms:modified xsi:type="dcterms:W3CDTF">2026-05-01T17:56:23Z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5853EEC72FD34F159784471E87555F6C_12</vt:lpwstr>
  </property>
  <property fmtid="{D5CDD505-2E9C-101B-9397-08002B2CF9AE}" pid="3" name="KSOProductBuildVer">
    <vt:lpwstr>1033-12.1.0.25242</vt:lpwstr>
  </property>
</Properties>
</file>